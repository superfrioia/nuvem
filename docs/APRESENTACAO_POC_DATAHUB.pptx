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A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-2194560"/>
            <a:ext cx="6400800" cy="6400800"/>
          </a:xfrm>
          <a:prstGeom prst="ellipse">
            <a:avLst/>
          </a:prstGeom>
          <a:solidFill>
            <a:srgbClr val="3FA9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-731520"/>
            <a:ext cx="3108960" cy="3108960"/>
          </a:xfrm>
          <a:prstGeom prst="ellipse">
            <a:avLst/>
          </a:prstGeom>
          <a:solidFill>
            <a:srgbClr val="3FA9F5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1463040"/>
            <a:ext cx="1371600" cy="8229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 flipH="1">
            <a:off x="9966960" y="2286000"/>
            <a:ext cx="914400" cy="91440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9966960" y="3200400"/>
            <a:ext cx="1371600" cy="73152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 flipH="1">
            <a:off x="9052560" y="3931920"/>
            <a:ext cx="2286000" cy="54864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9052560" y="4480560"/>
            <a:ext cx="1371600" cy="64008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9459468" y="1412748"/>
            <a:ext cx="100584" cy="100584"/>
          </a:xfrm>
          <a:prstGeom prst="ellipse">
            <a:avLst/>
          </a:prstGeom>
          <a:solidFill>
            <a:srgbClr val="FFC400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31068" y="223570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16668" y="315010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288268" y="3881628"/>
            <a:ext cx="100584" cy="100584"/>
          </a:xfrm>
          <a:prstGeom prst="ellipse">
            <a:avLst/>
          </a:prstGeom>
          <a:solidFill>
            <a:srgbClr val="FFC400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2268" y="443026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73868" y="507034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-2926080" y="5833872"/>
            <a:ext cx="18592495" cy="2926080"/>
          </a:xfrm>
          <a:prstGeom prst="ellipse">
            <a:avLst/>
          </a:prstGeom>
          <a:solidFill>
            <a:srgbClr val="0A2A5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-1371600" y="6144768"/>
            <a:ext cx="16306495" cy="2743200"/>
          </a:xfrm>
          <a:prstGeom prst="ellipse">
            <a:avLst/>
          </a:prstGeom>
          <a:solidFill>
            <a:srgbClr val="1E6FD9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6446520"/>
            <a:ext cx="14020495" cy="2377440"/>
          </a:xfrm>
          <a:prstGeom prst="ellipse">
            <a:avLst/>
          </a:prstGeom>
          <a:solidFill>
            <a:srgbClr val="3FA9F5">
              <a:alpha val="22000"/>
            </a:srgbClr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6928"/>
            <a:ext cx="2651760" cy="50266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1993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 EM CONSTRUÇÃO  ·  CSC / NUVEM IA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2359152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× SharePoint DataHub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04672" y="33101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vai funcionar, onde a IA entra e como os KPIs são gerados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22960" y="3840480"/>
            <a:ext cx="2011680" cy="5029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806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Maria Watanabe  ·  Centro de Serviços Compartilhados  ·  29/jul/2026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271455" y="274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esta POC prova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0020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Provar de ponta a ponta, com dado real, que a aplicação conecta no SharePoint DataHub, sabe o que existe lá, lê uma planilha de verdade, calcula poucos KPIs auditáveis e explica em texto o que encontrou.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237744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459736"/>
            <a:ext cx="50292" cy="216712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2542032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5528" y="3017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Conexão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5528" y="3346704"/>
            <a:ext cx="22037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Microsoft Graph somente leitura, com token de aplicação. Escrita recusada pela própria permissão.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01568" y="237744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1568" y="2459736"/>
            <a:ext cx="50292" cy="216712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6" name="Text 13"/>
          <p:cNvSpPr/>
          <p:nvPr/>
        </p:nvSpPr>
        <p:spPr>
          <a:xfrm>
            <a:off x="3602736" y="2542032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9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602736" y="3017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Inventário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02736" y="3346704"/>
            <a:ext cx="22037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Tela com pastas e arquivos que o sistema vê, atualizada por um botão “Sincronizar agora”.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08776" y="237744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08776" y="2459736"/>
            <a:ext cx="50292" cy="216712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21" name="Text 18"/>
          <p:cNvSpPr/>
          <p:nvPr/>
        </p:nvSpPr>
        <p:spPr>
          <a:xfrm>
            <a:off x="6409944" y="2542032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09944" y="3017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9944" y="3346704"/>
            <a:ext cx="22037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família de planilha lida de forma controlada, com metadados de qualidade do que entrou.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015984" y="237744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15984" y="2459736"/>
            <a:ext cx="50292" cy="21671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6" name="Text 23"/>
          <p:cNvSpPr/>
          <p:nvPr/>
        </p:nvSpPr>
        <p:spPr>
          <a:xfrm>
            <a:off x="9217152" y="2542032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217152" y="301752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 + resumo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217152" y="3346704"/>
            <a:ext cx="220370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a 5 indicadores auditáveis e um resumo textual curto por template. Sem caixa-preta.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4360" y="512064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71A3A"/>
          </a:solidFill>
          <a:ln/>
        </p:spPr>
      </p:sp>
      <p:sp>
        <p:nvSpPr>
          <p:cNvPr id="30" name="Shape 27"/>
          <p:cNvSpPr/>
          <p:nvPr/>
        </p:nvSpPr>
        <p:spPr>
          <a:xfrm>
            <a:off x="594360" y="512064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1" name="Text 28"/>
          <p:cNvSpPr/>
          <p:nvPr/>
        </p:nvSpPr>
        <p:spPr>
          <a:xfrm>
            <a:off x="841248" y="512064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 de aceite: alteração feita no SharePoint aparece na tela após sincronizar, e os KPIs batem com conferência manual. Demo completa em ~5 minutos.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965960"/>
            <a:ext cx="5029200" cy="5029200"/>
          </a:xfrm>
          <a:prstGeom prst="ellipse">
            <a:avLst/>
          </a:prstGeom>
          <a:solidFill>
            <a:srgbClr val="3FA9F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251960"/>
            <a:ext cx="4114800" cy="4114800"/>
          </a:xfrm>
          <a:prstGeom prst="ellipse">
            <a:avLst/>
          </a:prstGeom>
          <a:solidFill>
            <a:srgbClr val="3FA9F5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onde vem o dado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16736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09760" y="1463040"/>
            <a:ext cx="1371600" cy="8229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9" name="Shape 6"/>
          <p:cNvSpPr/>
          <p:nvPr/>
        </p:nvSpPr>
        <p:spPr>
          <a:xfrm flipH="1">
            <a:off x="9966960" y="2286000"/>
            <a:ext cx="914400" cy="91440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10" name="Shape 7"/>
          <p:cNvSpPr/>
          <p:nvPr/>
        </p:nvSpPr>
        <p:spPr>
          <a:xfrm>
            <a:off x="9966960" y="3200400"/>
            <a:ext cx="1371600" cy="73152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11" name="Shape 8"/>
          <p:cNvSpPr/>
          <p:nvPr/>
        </p:nvSpPr>
        <p:spPr>
          <a:xfrm flipH="1">
            <a:off x="9052560" y="3931920"/>
            <a:ext cx="2286000" cy="54864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12" name="Shape 9"/>
          <p:cNvSpPr/>
          <p:nvPr/>
        </p:nvSpPr>
        <p:spPr>
          <a:xfrm>
            <a:off x="9052560" y="4480560"/>
            <a:ext cx="1371600" cy="64008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13" name="Shape 10"/>
          <p:cNvSpPr/>
          <p:nvPr/>
        </p:nvSpPr>
        <p:spPr>
          <a:xfrm>
            <a:off x="9459468" y="1412748"/>
            <a:ext cx="100584" cy="100584"/>
          </a:xfrm>
          <a:prstGeom prst="ellipse">
            <a:avLst/>
          </a:prstGeom>
          <a:solidFill>
            <a:srgbClr val="FFC400">
              <a:alpha val="7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831068" y="223570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916668" y="315010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288268" y="3881628"/>
            <a:ext cx="100584" cy="100584"/>
          </a:xfrm>
          <a:prstGeom prst="ellipse">
            <a:avLst/>
          </a:prstGeom>
          <a:solidFill>
            <a:srgbClr val="FFC400">
              <a:alpha val="7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002268" y="443026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373868" y="507034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" y="16459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0A2A5E"/>
          </a:solidFill>
          <a:ln w="9525">
            <a:solidFill>
              <a:srgbClr val="1E6FD9">
                <a:alpha val="6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17373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4360" y="2157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697480" y="16459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0A2A5E"/>
          </a:solidFill>
          <a:ln w="9525">
            <a:solidFill>
              <a:srgbClr val="1E6FD9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97480" y="17373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711 MB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697480" y="2157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exports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00600" y="16459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0A2A5E"/>
          </a:solidFill>
          <a:ln w="9525">
            <a:solidFill>
              <a:srgbClr val="1E6FD9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17373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800600" y="2157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famílias de relatório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03720" y="16459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0A2A5E"/>
          </a:solidFill>
          <a:ln w="9525">
            <a:solidFill>
              <a:srgbClr val="1E6FD9">
                <a:alpha val="6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03720" y="17373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jan–jul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03720" y="2157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série de 2026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" y="2926080"/>
            <a:ext cx="5074920" cy="1783080"/>
          </a:xfrm>
          <a:prstGeom prst="roundRect">
            <a:avLst>
              <a:gd name="adj" fmla="val 3077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3008376"/>
            <a:ext cx="50292" cy="161848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33" name="Text 30"/>
          <p:cNvSpPr/>
          <p:nvPr/>
        </p:nvSpPr>
        <p:spPr>
          <a:xfrm>
            <a:off x="795528" y="3090672"/>
            <a:ext cx="4690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Canal 1 — SharePoint DataHub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95528" y="3419856"/>
            <a:ext cx="46908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Exports do WMS SLIN publicados pela operação, na pasta 00.Dados / 00.Bronze / 00.Dados_Sistemicos. Contém justamente os clientes de catering da POC. Passou a ser fonte permanente (decisão de 29/jul), não conector opcional.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870448" y="2926080"/>
            <a:ext cx="5074920" cy="1783080"/>
          </a:xfrm>
          <a:prstGeom prst="roundRect">
            <a:avLst>
              <a:gd name="adj" fmla="val 3077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70448" y="3008376"/>
            <a:ext cx="50292" cy="161848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37" name="Text 34"/>
          <p:cNvSpPr/>
          <p:nvPr/>
        </p:nvSpPr>
        <p:spPr>
          <a:xfrm>
            <a:off x="6071616" y="3090672"/>
            <a:ext cx="4690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Canal 2 — Arquivos do Pentaho / DW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071616" y="3419856"/>
            <a:ext cx="46908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5 modelos de importação já construídos, por upload manual. Continuam valendo: os dois canais convivem e desembocam na mesma camada fina — fontes diferentes, um único destino.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512064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50F24"/>
          </a:solidFill>
          <a:ln/>
        </p:spPr>
      </p:sp>
      <p:sp>
        <p:nvSpPr>
          <p:cNvPr id="40" name="Shape 37"/>
          <p:cNvSpPr/>
          <p:nvPr/>
        </p:nvSpPr>
        <p:spPr>
          <a:xfrm>
            <a:off x="594360" y="512064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1" name="Text 38"/>
          <p:cNvSpPr/>
          <p:nvPr/>
        </p:nvSpPr>
        <p:spPr>
          <a:xfrm>
            <a:off x="841248" y="512064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pasta do DataHub não contém as 5 fontes canônicas do DW. São exports do WMS, aba sempre “SLIN”.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1E6FD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4" name="Text 41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caminho do dado, do arquivo ao texto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92024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071A3A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920240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127248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 fica onde já está. Nada é copiado para dentro.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87752" y="2240280"/>
            <a:ext cx="265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52928" y="192024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0A2A5E"/>
          </a:solidFill>
          <a:ln/>
        </p:spPr>
      </p:sp>
      <p:sp>
        <p:nvSpPr>
          <p:cNvPr id="13" name="Text 10"/>
          <p:cNvSpPr/>
          <p:nvPr/>
        </p:nvSpPr>
        <p:spPr>
          <a:xfrm>
            <a:off x="2852928" y="1920240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852928" y="3127248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 por identificador do item, com nome, extensão e tamanho conferidos.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2240280"/>
            <a:ext cx="265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111496" y="192024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1E6FD9"/>
          </a:solidFill>
          <a:ln/>
        </p:spPr>
      </p:sp>
      <p:sp>
        <p:nvSpPr>
          <p:cNvPr id="17" name="Text 14"/>
          <p:cNvSpPr/>
          <p:nvPr/>
        </p:nvSpPr>
        <p:spPr>
          <a:xfrm>
            <a:off x="5111496" y="1920240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Metadados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111496" y="3127248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Linhas lidas, válidas, descartadas, % de qualidade, competência e filial.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104888" y="2240280"/>
            <a:ext cx="265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70064" y="192024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3FA9F5"/>
          </a:solidFill>
          <a:ln/>
        </p:spPr>
      </p:sp>
      <p:sp>
        <p:nvSpPr>
          <p:cNvPr id="21" name="Text 18"/>
          <p:cNvSpPr/>
          <p:nvPr/>
        </p:nvSpPr>
        <p:spPr>
          <a:xfrm>
            <a:off x="7370064" y="1920240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 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70064" y="3127248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Soma ou contagem determinística sobre colunas achadas pelo nome.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363456" y="2240280"/>
            <a:ext cx="265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628632" y="1920240"/>
            <a:ext cx="1993392" cy="1051560"/>
          </a:xfrm>
          <a:prstGeom prst="roundRect">
            <a:avLst>
              <a:gd name="adj" fmla="val 5217"/>
            </a:avLst>
          </a:prstGeom>
          <a:solidFill>
            <a:srgbClr val="FFC400"/>
          </a:solidFill>
          <a:ln/>
        </p:spPr>
      </p:sp>
      <p:sp>
        <p:nvSpPr>
          <p:cNvPr id="25" name="Text 22"/>
          <p:cNvSpPr/>
          <p:nvPr/>
        </p:nvSpPr>
        <p:spPr>
          <a:xfrm>
            <a:off x="9628632" y="1920240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textual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28632" y="3127248"/>
            <a:ext cx="19933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determinístico preenchido com os números já calculados.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4360" y="4343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seta é código, não interpretação.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94360" y="4736592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1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 número da POC nasce de modelo de linguagem: sai de soma, contagem ou razão escrita em Python e coberta por teste.</a:t>
            </a:r>
            <a:endParaRPr lang="en-US" sz="110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1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mesmo arquivo lido duas vezes produz exatamente o mesmo número — condição para conferir na mão.</a:t>
            </a:r>
            <a:endParaRPr lang="en-US" sz="110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1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algo não pode ser validado (coluna faltando, arquivo fora do padrão), o sistema falha com mensagem clara em vez de aproximar.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965960"/>
            <a:ext cx="5029200" cy="5029200"/>
          </a:xfrm>
          <a:prstGeom prst="ellipse">
            <a:avLst/>
          </a:prstGeom>
          <a:solidFill>
            <a:srgbClr val="3FA9F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251960"/>
            <a:ext cx="4114800" cy="4114800"/>
          </a:xfrm>
          <a:prstGeom prst="ellipse">
            <a:avLst/>
          </a:prstGeom>
          <a:solidFill>
            <a:srgbClr val="3FA9F5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 IA entra — e onde ela não entra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16736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37360"/>
            <a:ext cx="3401568" cy="2697480"/>
          </a:xfrm>
          <a:prstGeom prst="roundRect">
            <a:avLst>
              <a:gd name="adj" fmla="val 2034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819656"/>
            <a:ext cx="50292" cy="253288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19019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construção — é onde ela está hoje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2459736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(Claude Code) escreve, revisa e testa o código do projeto junto comigo, em lotes pequenos e verificáveis. É produtividade de engenharia: acelera a entrega, não participa do resultado numérico.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1737360"/>
            <a:ext cx="3401568" cy="2697480"/>
          </a:xfrm>
          <a:prstGeom prst="roundRect">
            <a:avLst>
              <a:gd name="adj" fmla="val 2034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1819656"/>
            <a:ext cx="50292" cy="25328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9019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produto da POC — não entra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53128" y="2459736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Decisão de 29/jul/2026: a camada de IA que redigiria o resumo foi cortada. O texto da demo sai de um template determinístico preenchido com os KPIs. Motivo: numa POC de confiança na fonte, cada frase precisa ser rastreável.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09560" y="1737360"/>
            <a:ext cx="3401568" cy="2697480"/>
          </a:xfrm>
          <a:prstGeom prst="roundRect">
            <a:avLst>
              <a:gd name="adj" fmla="val 2034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19656"/>
            <a:ext cx="50292" cy="253288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8" name="Text 15"/>
          <p:cNvSpPr/>
          <p:nvPr/>
        </p:nvSpPr>
        <p:spPr>
          <a:xfrm>
            <a:off x="8110728" y="19019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da demo — primeiro incremento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10728" y="2459736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narradora opcional: recebe apenas o resumo estruturado já calculado (nunca a planilha bruta), redige em linguagem de negócio e fica sujeita a salvaguardas — proibida de criar número que não veio do código.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4360" y="480060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50F24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480060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" y="480060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que não muda: o código calcula, a IA no máximo narra. Número que a IA inventaria não teria como ser auditado.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1792" y="55961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Também fora da POC por decisão: RAG, banco vetorial, chatbot e agentes automáticos.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1E6F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um KPI é gerado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00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KPI da POC carrega sua própria auditoria. Ao lado do número, a tela mostra de onde ele saiu.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4846320" cy="3063240"/>
          </a:xfrm>
          <a:prstGeom prst="roundRect">
            <a:avLst>
              <a:gd name="adj" fmla="val 2388"/>
            </a:avLst>
          </a:prstGeom>
          <a:solidFill>
            <a:srgbClr val="071A3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DE CARTÃO DE KPI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5420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Peso líquido movimentado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1.482.309 kg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96112" y="3456432"/>
            <a:ext cx="4206240" cy="1828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584448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Regra:  soma da coluna “Peso Líquido”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Fonte:  ENTRADA_MERCADORIAS_2026_06.xlsx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Registros:  18.402 lidos · 18.311 válidos · 91 descartados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Qualidade:  99,5%   ·   Competência:  06/2026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0" y="2148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sempre acompanha o número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251460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Coluna e regra usadas (soma, contagem de distintos ou razão) — nada de fórmula escondida.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Unidade explícita e quantidade de registros lidos, válidos e descartados.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 de origem, competência e filial inferidas na leitura.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Percentual de qualidade: quanto do arquivo entrou de fato no cálculo.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0" y="4114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Candidatos escolhidos (3 a 5)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15000" y="446227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registros processados  ·  clientes distintos  ·  volume  ·  peso líquido e bruto  ·  unidades de armazenagem  ·  valor movimentado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" y="534924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71A3A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534924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1248" y="534924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Poucos KPIs, escolhidos por serem conferíveis à mão em minutos. Amplitude vem depois da confiança.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COMPORTAMENTO DE LEITURA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Amanhã entra um arquivo novo. E daí?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6916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73936"/>
            <a:ext cx="50292" cy="22128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1856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95528" y="2331720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operação publica no SharePoint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5528" y="2825496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arquivo aparece na pasta do DataHub como sempre. Nada muda no jeito de publicar.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29000" y="16916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773936"/>
            <a:ext cx="50292" cy="221284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5" name="Text 12"/>
          <p:cNvSpPr/>
          <p:nvPr/>
        </p:nvSpPr>
        <p:spPr>
          <a:xfrm>
            <a:off x="3630168" y="1856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630168" y="2331720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acontece sozinho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30168" y="2825496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POC não tem agendador. Enquanto ninguém sincronizar, a tela mostra o inventário da última varredura.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1773936"/>
            <a:ext cx="50292" cy="22128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20" name="Text 17"/>
          <p:cNvSpPr/>
          <p:nvPr/>
        </p:nvSpPr>
        <p:spPr>
          <a:xfrm>
            <a:off x="6464808" y="1856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64808" y="2331720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“Sincronizar agora” varre a pasta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64808" y="2825496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Varredura recursiva das subpastas, com paginação. O novo arquivo entra na contagem e na lista de recentes.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98280" y="169164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98280" y="1773936"/>
            <a:ext cx="50292" cy="22128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856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9299448" y="2331720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leitura só ocorre se escolhido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299448" y="2825496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Aparecer no inventário não significa ser processado. O download é por identificador do item, com nome, extensão e tamanho validados.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4343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POC ainda não lê (por escopo, não por falha)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94360" y="470916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Arquivos partidos em _f1 / _f2 / _f3 — três pedaços de uma mesma competência, que precisam ser concatenados antes de somar.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Famílias cujo cabeçalho não está na linha 1 (varia entre linha 1, 2, 3 e 5) — a POC lê a família de cabeçalho simples.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8 famílias de uma só vez, PDFs, e leitura genérica de qualquer planilha que aparecer.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965960"/>
            <a:ext cx="5029200" cy="5029200"/>
          </a:xfrm>
          <a:prstGeom prst="ellipse">
            <a:avLst/>
          </a:prstGeom>
          <a:solidFill>
            <a:srgbClr val="3FA9F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251960"/>
            <a:ext cx="4114800" cy="4114800"/>
          </a:xfrm>
          <a:prstGeom prst="ellipse">
            <a:avLst/>
          </a:prstGeom>
          <a:solidFill>
            <a:srgbClr val="3FA9F5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ROBUSTEZ DA LEITURA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se a planilha vier diferente amanhã?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16736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2763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colunas são localizadas pelo nome, nunca pela posição. Na leitura, o sistema monta um dicionário cabeçalho → índice e procura cada coluna que os KPIs precisam pelo rótulo.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377440"/>
            <a:ext cx="3401568" cy="2331720"/>
          </a:xfrm>
          <a:prstGeom prst="roundRect">
            <a:avLst>
              <a:gd name="adj" fmla="val 2353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459736"/>
            <a:ext cx="50292" cy="216712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2542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Acrescentaram uma coluna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5528" y="2889504"/>
            <a:ext cx="30175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Continua funcionando. A coluna nova simplesmente não é mapeada e não entra no cálculo. Mesma regra do parser dos modelos de importação: o que não foi mapeado não vira número.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51960" y="2377440"/>
            <a:ext cx="3401568" cy="2331720"/>
          </a:xfrm>
          <a:prstGeom prst="roundRect">
            <a:avLst>
              <a:gd name="adj" fmla="val 2353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2459736"/>
            <a:ext cx="50292" cy="216712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53128" y="25420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Renomearam ou removeram uma coluna usada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53128" y="3099816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Falha com mensagem clara — “coluna ‘Peso Bruto’ não encontrada”. O sistema para em vez de entregar um número errado com aparência de certo.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09560" y="2377440"/>
            <a:ext cx="3401568" cy="2331720"/>
          </a:xfrm>
          <a:prstGeom prst="roundRect">
            <a:avLst>
              <a:gd name="adj" fmla="val 2353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09560" y="2459736"/>
            <a:ext cx="50292" cy="216712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9" name="Text 16"/>
          <p:cNvSpPr/>
          <p:nvPr/>
        </p:nvSpPr>
        <p:spPr>
          <a:xfrm>
            <a:off x="8110728" y="2542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Mudaram a ordem das colunas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10728" y="2889504"/>
            <a:ext cx="30175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Indiferente. Índice fixo quebraria a cada mudança; a busca por rótulo não. A posição só é usada para desempatar rótulo repetido (“EMB” aparece duas vezes) — e nenhum KPI da POC usa essas colunas.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" y="507492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50F24"/>
          </a:solidFill>
          <a:ln/>
        </p:spPr>
      </p:sp>
      <p:sp>
        <p:nvSpPr>
          <p:cNvPr id="22" name="Shape 19"/>
          <p:cNvSpPr/>
          <p:nvPr/>
        </p:nvSpPr>
        <p:spPr>
          <a:xfrm>
            <a:off x="594360" y="507492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507492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de ouro: falhar visível é aceitável, calcular errado em silêncio não é.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1E6F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ATUALIZAÇÃO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KPI atualiza sozinho?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6916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C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75564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594360" y="252374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POC, por decisão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0" y="1737360"/>
            <a:ext cx="7726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atualização é disparada por uma pessoa: sincronizar o inventário e abrir a tela de KPIs. Não existe agendador, fila, worker extra, Celery ou Redis no escopo da POC.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33756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419856"/>
            <a:ext cx="50292" cy="17556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" y="350215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Hoje — POC (demo controlada)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5528" y="3831336"/>
            <a:ext cx="4873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Sincronização manual. O número na tela é sempre o da última leitura, e a tela diz quando foi. Numa demonstração, previsibilidade vale mais que automação: nada se move enquanto ninguém pede.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333756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3419856"/>
            <a:ext cx="50292" cy="175564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8" name="Text 15"/>
          <p:cNvSpPr/>
          <p:nvPr/>
        </p:nvSpPr>
        <p:spPr>
          <a:xfrm>
            <a:off x="6236208" y="350215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— produto (já previsto na arquitetura)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36208" y="3831336"/>
            <a:ext cx="4873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Agendador dentro do próprio container (APScheduler, worker único), rodando a rotina em cadência combinada e rebuscando as últimas 3 competências. Não exige mudar o desenho — só ligar o gatilho.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4360" y="5440680"/>
            <a:ext cx="11002975" cy="548640"/>
          </a:xfrm>
          <a:prstGeom prst="roundRect">
            <a:avLst>
              <a:gd name="adj" fmla="val 8333"/>
            </a:avLst>
          </a:prstGeom>
          <a:solidFill>
            <a:srgbClr val="071A3A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0680"/>
            <a:ext cx="54864" cy="5486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" y="5440680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Pendência humana antes de automatizar: definir quem publica no DataHub e com que cadência. Agendar antes disso é agendar no escuro.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965960"/>
            <a:ext cx="5029200" cy="5029200"/>
          </a:xfrm>
          <a:prstGeom prst="ellipse">
            <a:avLst/>
          </a:prstGeom>
          <a:solidFill>
            <a:srgbClr val="3FA9F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251960"/>
            <a:ext cx="4114800" cy="4114800"/>
          </a:xfrm>
          <a:prstGeom prst="ellipse">
            <a:avLst/>
          </a:prstGeom>
          <a:solidFill>
            <a:srgbClr val="3FA9F5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MANUAL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 como forçar a atualização?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16736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276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 — é justamente o modo padrão da POC. Três gatilhos, todos explícitos.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148840"/>
            <a:ext cx="3401568" cy="2606040"/>
          </a:xfrm>
          <a:prstGeom prst="roundRect">
            <a:avLst>
              <a:gd name="adj" fmla="val 2105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231136"/>
            <a:ext cx="50292" cy="244144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2313432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5528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Sincronizar agora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5528" y="3118104"/>
            <a:ext cx="301752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Revarre a pasta do DataHub e atualiza contagens e listas. É o botão da demonstração.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5528" y="425196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3FA9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/api/admin/datahub/sincronizar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2148840"/>
            <a:ext cx="3401568" cy="2606040"/>
          </a:xfrm>
          <a:prstGeom prst="roundRect">
            <a:avLst>
              <a:gd name="adj" fmla="val 2105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2231136"/>
            <a:ext cx="50292" cy="244144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7" name="Text 14"/>
          <p:cNvSpPr/>
          <p:nvPr/>
        </p:nvSpPr>
        <p:spPr>
          <a:xfrm>
            <a:off x="4453128" y="2313432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9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453128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Reler a planilha e recalcular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53128" y="3118104"/>
            <a:ext cx="301752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 abrir os KPIs, o arquivo selecionado é lido de novo e os indicadores são recalculados do zero.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53128" y="425196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3FA9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cache de resultado a envelhecer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909560" y="2148840"/>
            <a:ext cx="3401568" cy="2606040"/>
          </a:xfrm>
          <a:prstGeom prst="roundRect">
            <a:avLst>
              <a:gd name="adj" fmla="val 2105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2231136"/>
            <a:ext cx="50292" cy="24414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23" name="Text 20"/>
          <p:cNvSpPr/>
          <p:nvPr/>
        </p:nvSpPr>
        <p:spPr>
          <a:xfrm>
            <a:off x="8110728" y="2313432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110728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Reprocessar uma execução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110728" y="3118104"/>
            <a:ext cx="301752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produto: refaz o cálculo de uma carga já feita usando a versão de mapeamento daquela execução — não a mais nova.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10728" y="425196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3FA9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/execucoes/{id}/reprocessar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4360" y="512064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50F24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512064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9" name="Text 26"/>
          <p:cNvSpPr/>
          <p:nvPr/>
        </p:nvSpPr>
        <p:spPr>
          <a:xfrm>
            <a:off x="841248" y="512064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Reprocessar nunca reescreve a história: a carga antiga fica registrada e o recálculo usa a regra vigente na época.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1E6F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CORREÇÃO RETROATIVA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Alguém altera um dado de dois meses atrás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64592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28216"/>
            <a:ext cx="50292" cy="12984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181051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POC — o SharePoint é a verdade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2139696"/>
            <a:ext cx="4873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POC não guarda histórico próprio dos números. Quando o arquivo daquela competência é lido de novo, o KPI passa a refletir o valor corrigido. Simples, e por isso mesmo sem rastro do que mudou.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164592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728216"/>
            <a:ext cx="50292" cy="129844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4" name="Text 11"/>
          <p:cNvSpPr/>
          <p:nvPr/>
        </p:nvSpPr>
        <p:spPr>
          <a:xfrm>
            <a:off x="6236208" y="181051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produto — já construído e testado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36208" y="2139696"/>
            <a:ext cx="4873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camada fina foi desenhada exatamente para isso: correção retroativa é caso normal de operação, não exceção. O valor antigo não é perdido nem sobrescrito às cegas.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33375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quatro mecanismos que sustentam a correção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37033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3785616"/>
            <a:ext cx="50292" cy="143560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" y="386791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do que chegou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" y="4197096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 append-only: cada carga grava sua linha e nunca é sobrescrita. Dá para ver o que chegou e quando.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29000" y="37033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29000" y="3785616"/>
            <a:ext cx="50292" cy="143560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23" name="Text 20"/>
          <p:cNvSpPr/>
          <p:nvPr/>
        </p:nvSpPr>
        <p:spPr>
          <a:xfrm>
            <a:off x="3630168" y="386791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único por chave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30168" y="4197096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 × armazém × competência é chave única. Reler o mesmo mês não duplica: atualiza.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63640" y="37033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3785616"/>
            <a:ext cx="50292" cy="143560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27" name="Text 24"/>
          <p:cNvSpPr/>
          <p:nvPr/>
        </p:nvSpPr>
        <p:spPr>
          <a:xfrm>
            <a:off x="6464808" y="386791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Reprocesso por mês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64808" y="4197096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Refazer uma competência apaga e reinsere só aquele conjunto — sem tocar nos meses vizinhos.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098280" y="37033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98280" y="3785616"/>
            <a:ext cx="50292" cy="143560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31" name="Text 28"/>
          <p:cNvSpPr/>
          <p:nvPr/>
        </p:nvSpPr>
        <p:spPr>
          <a:xfrm>
            <a:off x="9299448" y="386791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recalculados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299448" y="4197096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scores são cache derivado, refeitos por completo a cada rodada. O passado corrigido reacende ou apaga alertas.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94360" y="5486400"/>
            <a:ext cx="11002975" cy="548640"/>
          </a:xfrm>
          <a:prstGeom prst="roundRect">
            <a:avLst>
              <a:gd name="adj" fmla="val 8333"/>
            </a:avLst>
          </a:prstGeom>
          <a:solidFill>
            <a:srgbClr val="071A3A"/>
          </a:solidFill>
          <a:ln/>
        </p:spPr>
      </p:sp>
      <p:sp>
        <p:nvSpPr>
          <p:cNvPr id="34" name="Shape 31"/>
          <p:cNvSpPr/>
          <p:nvPr/>
        </p:nvSpPr>
        <p:spPr>
          <a:xfrm>
            <a:off x="594360" y="5486400"/>
            <a:ext cx="54864" cy="5486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5" name="Text 32"/>
          <p:cNvSpPr/>
          <p:nvPr/>
        </p:nvSpPr>
        <p:spPr>
          <a:xfrm>
            <a:off x="841248" y="5486400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Limitação explícita: a rotina automática rebusca as últimas 3 competências. Correção mais antiga que isso só entra por reprocesso pedido — não é mágica, é um botão.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8" name="Text 35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965960"/>
            <a:ext cx="5029200" cy="5029200"/>
          </a:xfrm>
          <a:prstGeom prst="ellipse">
            <a:avLst/>
          </a:prstGeom>
          <a:solidFill>
            <a:srgbClr val="3FA9F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251960"/>
            <a:ext cx="4114800" cy="4114800"/>
          </a:xfrm>
          <a:prstGeom prst="ellipse">
            <a:avLst/>
          </a:prstGeom>
          <a:solidFill>
            <a:srgbClr val="3FA9F5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Precisamos armazenar algo no banco?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16736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6916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73936"/>
            <a:ext cx="50292" cy="180136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185623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 POC — nada obrigatório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2185416"/>
            <a:ext cx="48737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inventário do DataHub fica em memória do processo e o token de acesso em cache curto (≈1 h, renovado com margem). Criar tabela para o inventário só se houver necessidade clara — comparar sincronizações ou rastrear o que mudou. Decisão fica para o lote P2.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16916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0A2A5E"/>
          </a:solidFill>
          <a:ln w="9525">
            <a:solidFill>
              <a:srgbClr val="1E6FD9">
                <a:alpha val="5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773936"/>
            <a:ext cx="50292" cy="180136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4" name="Text 11"/>
          <p:cNvSpPr/>
          <p:nvPr/>
        </p:nvSpPr>
        <p:spPr>
          <a:xfrm>
            <a:off x="6236208" y="185623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o dado virar métrica — já existe lugar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36208" y="2185416"/>
            <a:ext cx="48737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camada fina está construída e versionada por migrations: de-para de armazéns, catálogo de métricas, medidas consolidadas, registro do que foi recebido, linhagem valor ↔ origem, execuções e scores. Não há banco novo a criar para esta POC.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3977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princípio que limita o que entra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" y="4370832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1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 bruto nunca é copiado para dentro. A camada fina guarda consolidado (armazém × competência × métrica) — o relatório completo continua no SharePoint.</a:t>
            </a:r>
            <a:endParaRPr lang="en-US" sz="110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1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Nenhuma cópia integral do DataHub para o Postgres, nenhum data lake novo: 711 MB replicados criariam um segundo lugar para o dado divergir.</a:t>
            </a:r>
            <a:endParaRPr lang="en-US" sz="110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1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Drill-down se faz voltando ao arquivo de origem, que é rastreado pelo identificador do item — o caminho de volta é sempre a fonte.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1E6F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 construção está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863840"/>
                <a:gridCol w="20116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LOTE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OBJETIVO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A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Diagnóstico e organização segura do repositório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D3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Feito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Configuração e cliente do Microsoft Graph (somente leitura)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D3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Feito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P1.1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Correções de revisão: cache de token, URL de subpasta, erro de configuração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D3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Feito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Tela DataHub e sincronização manual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FD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fazer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P3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Leitura controlada de uma planilha (ENTRADA_MERCADORIAS)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FD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fazer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P4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KPIs da POC com auditoria por indicador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FD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fazer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P5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Resumo textual por template e roteiro da demo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FD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fazer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1A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P6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B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Revisão final, limpeza e documento de entrega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FD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fazer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" y="4983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0F4FA"/>
          </a:solidFill>
          <a:ln w="9525">
            <a:solidFill>
              <a:srgbClr val="C7D2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04748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645920" y="50474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 automatizados verdes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97680" y="4983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0F4FA"/>
          </a:solidFill>
          <a:ln w="9525">
            <a:solidFill>
              <a:srgbClr val="C7D2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34840" y="504748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349240" y="50474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lotes fechados em 29/jul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01000" y="4983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0F4FA"/>
          </a:solidFill>
          <a:ln w="9525">
            <a:solidFill>
              <a:srgbClr val="C7D2E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38160" y="504748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052560" y="50474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endpoints novos expostos ainda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1792" y="587044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conexão com o DataHub já está provada em código e teste. O que falta é a tela, a leitura da planilha e os KPIs — nesta ordem.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965960"/>
            <a:ext cx="5029200" cy="5029200"/>
          </a:xfrm>
          <a:prstGeom prst="ellipse">
            <a:avLst/>
          </a:prstGeom>
          <a:solidFill>
            <a:srgbClr val="3FA9F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251960"/>
            <a:ext cx="4114800" cy="4114800"/>
          </a:xfrm>
          <a:prstGeom prst="ellipse">
            <a:avLst/>
          </a:prstGeom>
          <a:solidFill>
            <a:srgbClr val="3FA9F5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está fora desta POC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16736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276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item abaixo saiu por decisão registrada, não por esquecimento. Vários voltam depois da demo.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14884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664" y="242316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14884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Agendador e sincronização automática recorrente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51960" y="214884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98264" y="242316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14884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Celery, Redis, filas e workers adicionais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09560" y="214884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55864" y="242316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214884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redigindo o resumo (candidata a pós-demo)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4360" y="288036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" y="315468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288036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RAG, banco vetorial, chatbot e agentes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51960" y="288036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98264" y="315468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3" name="Text 20"/>
          <p:cNvSpPr/>
          <p:nvPr/>
        </p:nvSpPr>
        <p:spPr>
          <a:xfrm>
            <a:off x="4617720" y="288036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genérica de qualquer planilha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909560" y="288036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55864" y="315468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6" name="Text 23"/>
          <p:cNvSpPr/>
          <p:nvPr/>
        </p:nvSpPr>
        <p:spPr>
          <a:xfrm>
            <a:off x="8275320" y="288036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8 famílias do DataHub de uma vez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361188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" y="388620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9" name="Text 26"/>
          <p:cNvSpPr/>
          <p:nvPr/>
        </p:nvSpPr>
        <p:spPr>
          <a:xfrm>
            <a:off x="960120" y="361188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de PDFs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251960" y="361188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98264" y="388620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2" name="Text 29"/>
          <p:cNvSpPr/>
          <p:nvPr/>
        </p:nvSpPr>
        <p:spPr>
          <a:xfrm>
            <a:off x="4617720" y="361188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de bolinhas completa e motor genérico de insights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909560" y="361188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55864" y="388620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5" name="Text 32"/>
          <p:cNvSpPr/>
          <p:nvPr/>
        </p:nvSpPr>
        <p:spPr>
          <a:xfrm>
            <a:off x="8275320" y="361188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Cópia integral do DataHub para o Postgres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94360" y="434340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0664" y="461772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8" name="Text 35"/>
          <p:cNvSpPr/>
          <p:nvPr/>
        </p:nvSpPr>
        <p:spPr>
          <a:xfrm>
            <a:off x="960120" y="434340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Novo data lake ou reescrita do backend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251960" y="434340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398264" y="461772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1" name="Text 38"/>
          <p:cNvSpPr/>
          <p:nvPr/>
        </p:nvSpPr>
        <p:spPr>
          <a:xfrm>
            <a:off x="4617720" y="434340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Autenticação corporativa completa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909560" y="434340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0A2A5E">
              <a:alpha val="75000"/>
            </a:srgbClr>
          </a:solidFill>
          <a:ln w="6350">
            <a:solidFill>
              <a:srgbClr val="1E6FD9">
                <a:alpha val="4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55864" y="4617720"/>
            <a:ext cx="128016" cy="1828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4" name="Text 41"/>
          <p:cNvSpPr/>
          <p:nvPr/>
        </p:nvSpPr>
        <p:spPr>
          <a:xfrm>
            <a:off x="8275320" y="434340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abstrato de conectores e microsserviços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94360" y="5349240"/>
            <a:ext cx="11002975" cy="603504"/>
          </a:xfrm>
          <a:prstGeom prst="roundRect">
            <a:avLst>
              <a:gd name="adj" fmla="val 7576"/>
            </a:avLst>
          </a:prstGeom>
          <a:solidFill>
            <a:srgbClr val="050F24"/>
          </a:solidFill>
          <a:ln/>
        </p:spPr>
      </p:sp>
      <p:sp>
        <p:nvSpPr>
          <p:cNvPr id="46" name="Shape 43"/>
          <p:cNvSpPr/>
          <p:nvPr/>
        </p:nvSpPr>
        <p:spPr>
          <a:xfrm>
            <a:off x="594360" y="5349240"/>
            <a:ext cx="54864" cy="6035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7" name="Text 44"/>
          <p:cNvSpPr/>
          <p:nvPr/>
        </p:nvSpPr>
        <p:spPr>
          <a:xfrm>
            <a:off x="841248" y="5349240"/>
            <a:ext cx="10591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 estreito é o que permite provar o canal inteiro em cinco minutos, com números conferíveis.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1E6FD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50" name="Text 47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017520" cy="320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ESCALAR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Pendências e próximos passos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335024"/>
            <a:ext cx="1005840" cy="41148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10896"/>
            <a:ext cx="1554480" cy="2946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645920"/>
            <a:ext cx="3401568" cy="2606040"/>
          </a:xfrm>
          <a:prstGeom prst="roundRect">
            <a:avLst>
              <a:gd name="adj" fmla="val 2105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28216"/>
            <a:ext cx="50292" cy="244144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Pendências humanas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2139696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De-para dos códigos numéricos de filial do WMS (001, 002, 015, 016) para as siglas oficiais.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quem publica cada família no DataHub e com que cadência — sem isso não há como prometer atualização automática.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1645920"/>
            <a:ext cx="3401568" cy="2606040"/>
          </a:xfrm>
          <a:prstGeom prst="roundRect">
            <a:avLst>
              <a:gd name="adj" fmla="val 2105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1728216"/>
            <a:ext cx="50292" cy="2441448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 da demonstração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53128" y="2139696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1: máquina local com Docker, credenciais em arquivo de ambiente local. Nada precisa subir antes da apresentação.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 (pós-demo): subir para a VM na porta 8002 — aplicar as migrations pendentes, repassar as credenciais e confirmar a saída HTTPS para a Microsoft.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09560" y="1645920"/>
            <a:ext cx="3401568" cy="2606040"/>
          </a:xfrm>
          <a:prstGeom prst="roundRect">
            <a:avLst>
              <a:gd name="adj" fmla="val 2105"/>
            </a:avLst>
          </a:prstGeom>
          <a:solidFill>
            <a:srgbClr val="F0F4FA"/>
          </a:solidFill>
          <a:ln w="9525">
            <a:solidFill>
              <a:srgbClr val="C7D2E3">
                <a:alpha val="7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728216"/>
            <a:ext cx="50292" cy="2441448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8" name="Text 15"/>
          <p:cNvSpPr/>
          <p:nvPr/>
        </p:nvSpPr>
        <p:spPr>
          <a:xfrm>
            <a:off x="8110728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Sequência de construção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10728" y="2139696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 — tela do DataHub e sincronização manual.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 — leitura controlada da planilha.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 — os KPIs com auditoria.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 — resumo textual e roteiro da demo.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P6 — limpeza e documento de entrega.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4360" y="44805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Riscos assumidos e como são tratados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94360" y="48463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Mudança de layout da planilha na fonte: tratada por leitura por nome de coluna e falha explícita — o risco vira mensagem, não número errado.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Indisponibilidade ou limite de chamadas do SharePoint: erros 401, 403, 404, 429 e tempo esgotado já são tratados e testados com mensagem própria.</a:t>
            </a:r>
            <a:endParaRPr lang="en-US" sz="1050" dirty="0"/>
          </a:p>
          <a:p>
            <a:pPr marL="190500" indent="-1905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3D4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Expectativa de tempo real: a POC é declaradamente sob demanda. Automatizar depende de acordo de cadência com quem publica.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" y="6291072"/>
            <a:ext cx="11002975" cy="0"/>
          </a:xfrm>
          <a:prstGeom prst="line">
            <a:avLst/>
          </a:prstGeom>
          <a:noFill/>
          <a:ln w="12700">
            <a:solidFill>
              <a:srgbClr val="C7D2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6277356"/>
            <a:ext cx="822960" cy="274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4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Nuvem IA  |  POC SharePoint DataHub  |  29/jul/2026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59775" y="6382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-2057400"/>
            <a:ext cx="5943600" cy="5943600"/>
          </a:xfrm>
          <a:prstGeom prst="ellipse">
            <a:avLst/>
          </a:prstGeom>
          <a:solidFill>
            <a:srgbClr val="3FA9F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1463040"/>
            <a:ext cx="1371600" cy="8229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 flipH="1">
            <a:off x="9966960" y="2286000"/>
            <a:ext cx="914400" cy="91440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9966960" y="3200400"/>
            <a:ext cx="1371600" cy="73152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 flipH="1">
            <a:off x="9052560" y="3931920"/>
            <a:ext cx="2286000" cy="54864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9052560" y="4480560"/>
            <a:ext cx="1371600" cy="64008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9459468" y="1412748"/>
            <a:ext cx="100584" cy="100584"/>
          </a:xfrm>
          <a:prstGeom prst="ellipse">
            <a:avLst/>
          </a:prstGeom>
          <a:solidFill>
            <a:srgbClr val="FFC40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31068" y="223570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16668" y="315010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88268" y="3881628"/>
            <a:ext cx="100584" cy="100584"/>
          </a:xfrm>
          <a:prstGeom prst="ellipse">
            <a:avLst/>
          </a:prstGeom>
          <a:solidFill>
            <a:srgbClr val="FFC400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02268" y="443026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73868" y="5070348"/>
            <a:ext cx="100584" cy="100584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-2926080" y="5742432"/>
            <a:ext cx="18592495" cy="2926080"/>
          </a:xfrm>
          <a:prstGeom prst="ellipse">
            <a:avLst/>
          </a:prstGeom>
          <a:solidFill>
            <a:srgbClr val="0A2A5E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-1371600" y="6053328"/>
            <a:ext cx="16306495" cy="2743200"/>
          </a:xfrm>
          <a:prstGeom prst="ellipse">
            <a:avLst/>
          </a:prstGeom>
          <a:solidFill>
            <a:srgbClr val="1E6FD9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6355080"/>
            <a:ext cx="14020495" cy="2377440"/>
          </a:xfrm>
          <a:prstGeom prst="ellipse">
            <a:avLst/>
          </a:prstGeom>
          <a:solidFill>
            <a:srgbClr val="3FA9F5">
              <a:alpha val="22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21792"/>
            <a:ext cx="2286000" cy="4333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18745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demonstração prova, em cinco minutos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804672" y="2606040"/>
            <a:ext cx="1463040" cy="4572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22960" y="3163824"/>
            <a:ext cx="146304" cy="146304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21" name="Text 18"/>
          <p:cNvSpPr/>
          <p:nvPr/>
        </p:nvSpPr>
        <p:spPr>
          <a:xfrm>
            <a:off x="1170432" y="30632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aplicação vê o DataHub e percebe uma mudança feita agora na pasta.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2960" y="3767328"/>
            <a:ext cx="146304" cy="146304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23" name="Text 20"/>
          <p:cNvSpPr/>
          <p:nvPr/>
        </p:nvSpPr>
        <p:spPr>
          <a:xfrm>
            <a:off x="1170432" y="3666744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 um arquivo real e diz quanto do arquivo entrou de fato no cálculo.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" y="4370832"/>
            <a:ext cx="146304" cy="146304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25" name="Text 22"/>
          <p:cNvSpPr/>
          <p:nvPr/>
        </p:nvSpPr>
        <p:spPr>
          <a:xfrm>
            <a:off x="1170432" y="4270248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KPIs que qualquer pessoa consegue conferir na mão.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27" name="Text 24"/>
          <p:cNvSpPr/>
          <p:nvPr/>
        </p:nvSpPr>
        <p:spPr>
          <a:xfrm>
            <a:off x="1170432" y="48737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Explica em texto o que encontrou, sem que nenhum número venha de IA.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04672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C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Conexão que move a América Latina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168335" y="5824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 ·  USO INTERNO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SuperFrio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Nuvem IA x SharePoint DataHub</dc:title>
  <dc:subject>PptxGenJS Presentation</dc:subject>
  <dc:creator>CSC - Nuvem IA</dc:creator>
  <cp:lastModifiedBy>CSC - Nuvem IA</cp:lastModifiedBy>
  <cp:revision>1</cp:revision>
  <dcterms:created xsi:type="dcterms:W3CDTF">2026-07-29T17:33:48Z</dcterms:created>
  <dcterms:modified xsi:type="dcterms:W3CDTF">2026-07-29T17:33:48Z</dcterms:modified>
</cp:coreProperties>
</file>